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31954775" cy="50149125"/>
  <p:embeddedFontLst>
    <p:embeddedFont>
      <p:font typeface="Montserrat Light"/>
      <p:regular r:id="rId7"/>
      <p:bold r:id="rId8"/>
      <p:italic r:id="rId9"/>
      <p:boldItalic r:id="rId10"/>
    </p:embeddedFont>
    <p:embeddedFont>
      <p:font typeface="Libre Baskervill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968">
          <p15:clr>
            <a:srgbClr val="A4A3A4"/>
          </p15:clr>
        </p15:guide>
        <p15:guide id="2" orient="horz" pos="5632">
          <p15:clr>
            <a:srgbClr val="A4A3A4"/>
          </p15:clr>
        </p15:guide>
        <p15:guide id="3" orient="horz" pos="3533">
          <p15:clr>
            <a:srgbClr val="A4A3A4"/>
          </p15:clr>
        </p15:guide>
        <p15:guide id="4" orient="horz" pos="6246">
          <p15:clr>
            <a:srgbClr val="A4A3A4"/>
          </p15:clr>
        </p15:guide>
        <p15:guide id="5" pos="720">
          <p15:clr>
            <a:srgbClr val="A4A3A4"/>
          </p15:clr>
        </p15:guide>
        <p15:guide id="6" pos="6912">
          <p15:clr>
            <a:srgbClr val="A4A3A4"/>
          </p15:clr>
        </p15:guide>
        <p15:guide id="7" pos="7392">
          <p15:clr>
            <a:srgbClr val="A4A3A4"/>
          </p15:clr>
        </p15:guide>
        <p15:guide id="8" pos="13584">
          <p15:clr>
            <a:srgbClr val="A4A3A4"/>
          </p15:clr>
        </p15:guide>
        <p15:guide id="9" pos="14064">
          <p15:clr>
            <a:srgbClr val="A4A3A4"/>
          </p15:clr>
        </p15:guide>
        <p15:guide id="10" pos="20256">
          <p15:clr>
            <a:srgbClr val="A4A3A4"/>
          </p15:clr>
        </p15:guide>
        <p15:guide id="11" pos="20736">
          <p15:clr>
            <a:srgbClr val="A4A3A4"/>
          </p15:clr>
        </p15:guide>
        <p15:guide id="12" pos="26928">
          <p15:clr>
            <a:srgbClr val="A4A3A4"/>
          </p15:clr>
        </p15:guide>
      </p15:sldGuideLst>
    </p:ext>
    <p:ext uri="{2D200454-40CA-4A62-9FC3-DE9A4176ACB9}">
      <p15:notesGuideLst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  <p:ext uri="GoogleSlidesCustomDataVersion2">
      <go:slidesCustomData xmlns:go="http://customooxmlschemas.google.com/" r:id="rId15" roundtripDataSignature="AMtx7mj1ECMatMITAljr0bNO/NJKHeNB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968" orient="horz"/>
        <p:guide pos="5632" orient="horz"/>
        <p:guide pos="3533" orient="horz"/>
        <p:guide pos="6246" orient="horz"/>
        <p:guide pos="720"/>
        <p:guide pos="6912"/>
        <p:guide pos="7392"/>
        <p:guide pos="13584"/>
        <p:guide pos="14064"/>
        <p:guide pos="20256"/>
        <p:guide pos="20736"/>
        <p:guide pos="26928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15795" orient="horz"/>
        <p:guide pos="10065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Baskerville-regular.fntdata"/><Relationship Id="rId10" Type="http://schemas.openxmlformats.org/officeDocument/2006/relationships/font" Target="fonts/MontserratLight-boldItalic.fntdata"/><Relationship Id="rId13" Type="http://schemas.openxmlformats.org/officeDocument/2006/relationships/font" Target="fonts/LibreBaskerville-italic.fntdata"/><Relationship Id="rId12" Type="http://schemas.openxmlformats.org/officeDocument/2006/relationships/font" Target="fonts/LibreBaskervill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Light-italic.fntdata"/><Relationship Id="rId15" Type="http://customschemas.google.com/relationships/presentationmetadata" Target="metadata"/><Relationship Id="rId14" Type="http://schemas.openxmlformats.org/officeDocument/2006/relationships/font" Target="fonts/LibreBaskervill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Light-regular.fntdata"/><Relationship Id="rId8" Type="http://schemas.openxmlformats.org/officeDocument/2006/relationships/font" Target="fonts/Montserrat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5000" lIns="450025" spcFirstLastPara="1" rIns="450025" wrap="square" tIns="22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5000" lIns="450025" spcFirstLastPara="1" rIns="450025" wrap="square" tIns="2250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78200" y="3757613"/>
            <a:ext cx="24996775" cy="18748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</p:spPr>
        <p:txBody>
          <a:bodyPr anchorCtr="0" anchor="t" bIns="225000" lIns="450025" spcFirstLastPara="1" rIns="450025" wrap="square" tIns="2250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225000" lIns="450025" spcFirstLastPara="1" rIns="450025" wrap="square" tIns="22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225000" lIns="450025" spcFirstLastPara="1" rIns="450025" wrap="square" tIns="225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225000" lIns="450025" spcFirstLastPara="1" rIns="450025" wrap="square" tIns="22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3378200" y="3757613"/>
            <a:ext cx="24996775" cy="18748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</p:spPr>
        <p:txBody>
          <a:bodyPr anchorCtr="0" anchor="t" bIns="225000" lIns="450025" spcFirstLastPara="1" rIns="450025" wrap="square" tIns="22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3292123" y="10226675"/>
            <a:ext cx="37306957" cy="705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298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Times New Roman"/>
              <a:buNone/>
              <a:defRPr/>
            </a:lvl1pPr>
            <a:lvl2pPr lvl="1" algn="ctr">
              <a:spcBef>
                <a:spcPts val="262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Times New Roman"/>
              <a:buNone/>
              <a:defRPr/>
            </a:lvl2pPr>
            <a:lvl3pPr lvl="2" algn="ctr"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Times New Roman"/>
              <a:buNone/>
              <a:defRPr/>
            </a:lvl3pPr>
            <a:lvl4pPr lvl="3" algn="ctr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4pPr>
            <a:lvl5pPr lvl="4" algn="ctr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5pPr>
            <a:lvl6pPr lvl="5" algn="ctr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6pPr>
            <a:lvl7pPr lvl="6" algn="ctr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7pPr>
            <a:lvl8pPr lvl="7" algn="ctr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8pPr>
            <a:lvl9pPr lvl="8" algn="ctr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294063" y="2925763"/>
            <a:ext cx="3730307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294063" y="9509125"/>
            <a:ext cx="37303075" cy="1975167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467101" y="21153439"/>
            <a:ext cx="37306957" cy="65373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3467101" y="13952538"/>
            <a:ext cx="37306957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350" lIns="426700" spcFirstLastPara="1" rIns="426700" wrap="square" tIns="21335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294063" y="2925763"/>
            <a:ext cx="3730307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293534" y="9509126"/>
            <a:ext cx="18584332" cy="1975167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22013334" y="9509126"/>
            <a:ext cx="18584332" cy="1975167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  <a:noFill/>
          <a:ln>
            <a:noFill/>
          </a:ln>
        </p:spPr>
        <p:txBody>
          <a:bodyPr anchorCtr="0" anchor="b" bIns="213350" lIns="426700" spcFirstLastPara="1" rIns="426700" wrap="square" tIns="21335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194278" y="10439400"/>
            <a:ext cx="19392900" cy="18965862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22295555" y="7369176"/>
            <a:ext cx="19401368" cy="3070225"/>
          </a:xfrm>
          <a:prstGeom prst="rect">
            <a:avLst/>
          </a:prstGeom>
          <a:noFill/>
          <a:ln>
            <a:noFill/>
          </a:ln>
        </p:spPr>
        <p:txBody>
          <a:bodyPr anchorCtr="0" anchor="b" bIns="213350" lIns="426700" spcFirstLastPara="1" rIns="426700" wrap="square" tIns="21335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22295555" y="10439400"/>
            <a:ext cx="19401368" cy="18965862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3294063" y="2925763"/>
            <a:ext cx="3730307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  <a:noFill/>
          <a:ln>
            <a:noFill/>
          </a:ln>
        </p:spPr>
        <p:txBody>
          <a:bodyPr anchorCtr="0" anchor="b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603545" y="23042564"/>
            <a:ext cx="26334157" cy="2720975"/>
          </a:xfrm>
          <a:prstGeom prst="rect">
            <a:avLst/>
          </a:prstGeom>
          <a:noFill/>
          <a:ln>
            <a:noFill/>
          </a:ln>
        </p:spPr>
        <p:txBody>
          <a:bodyPr anchorCtr="0" anchor="b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2" type="pic"/>
          </p:nvPr>
        </p:nvSpPr>
        <p:spPr>
          <a:xfrm>
            <a:off x="8603545" y="2941638"/>
            <a:ext cx="26334157" cy="1975008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8603545" y="25763539"/>
            <a:ext cx="26334157" cy="3862387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3294063" y="2925763"/>
            <a:ext cx="3730307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2069763" y="733425"/>
            <a:ext cx="19751675" cy="3730307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 rot="5400000">
            <a:off x="22767133" y="11430266"/>
            <a:ext cx="26335038" cy="9326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4047332" y="2171965"/>
            <a:ext cx="26335038" cy="2784263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0094B3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294063" y="2925763"/>
            <a:ext cx="3730307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350" lIns="426700" spcFirstLastPara="1" rIns="426700" wrap="square" tIns="2133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294063" y="9509125"/>
            <a:ext cx="37303075" cy="1975167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-1174750" lvl="0" marL="457200" marR="0" rtl="0" algn="l">
              <a:spcBef>
                <a:spcPts val="298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Times New Roman"/>
              <a:buChar char="•"/>
              <a:defRPr b="0" i="0" sz="14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060450" lvl="1" marL="914400" marR="0" rtl="0" algn="l">
              <a:spcBef>
                <a:spcPts val="262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Times New Roman"/>
              <a:buChar char="–"/>
              <a:defRPr b="0" i="0" sz="1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939800" lvl="2" marL="1371600" marR="0" rtl="0" algn="l"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Times New Roman"/>
              <a:buChar char="•"/>
              <a:defRPr b="0" i="0" sz="1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819150" lvl="3" marL="1828800" marR="0" rtl="0" algn="l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–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819150" lvl="4" marL="2286000" marR="0" rtl="0" algn="l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»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819150" lvl="5" marL="2743200" marR="0" rtl="0" algn="l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»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819150" lvl="6" marL="3200400" marR="0" rtl="0" algn="l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»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819150" lvl="7" marL="3657600" marR="0" rtl="0" algn="l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»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819150" lvl="8" marL="4114800" marR="0" rtl="0" algn="l"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»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13350" lIns="426700" spcFirstLastPara="1" rIns="426700" wrap="square" tIns="21335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6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-11074400" y="164592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40690800" y="164592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900" y="33426400"/>
            <a:ext cx="29997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60" u="none" cap="none" strike="noStrike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ID: persuadingsapphire  Size: 48x36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4280550" y="1023713"/>
            <a:ext cx="365760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00" lIns="128000" spcFirstLastPara="1" rIns="128000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5078"/>
              </a:buClr>
              <a:buSzPts val="8500"/>
              <a:buFont typeface="Libre Baskerville"/>
              <a:buNone/>
            </a:pPr>
            <a:r>
              <a:rPr lang="en-US" sz="75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Intelligent Course Scheduling with Structured Constraint Reasoning</a:t>
            </a:r>
            <a:endParaRPr sz="400"/>
          </a:p>
        </p:txBody>
      </p:sp>
      <p:sp>
        <p:nvSpPr>
          <p:cNvPr id="94" name="Google Shape;94;p1"/>
          <p:cNvSpPr txBox="1"/>
          <p:nvPr/>
        </p:nvSpPr>
        <p:spPr>
          <a:xfrm>
            <a:off x="3657600" y="3004006"/>
            <a:ext cx="365760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00" lIns="128000" spcFirstLastPara="1" rIns="128000" wrap="square" tIns="64000">
            <a:spAutoFit/>
          </a:bodyPr>
          <a:lstStyle/>
          <a:p>
            <a:pPr indent="0" lvl="0" marL="0" marR="0" rtl="0" algn="ctr">
              <a:spcBef>
                <a:spcPts val="1120"/>
              </a:spcBef>
              <a:spcAft>
                <a:spcPts val="0"/>
              </a:spcAft>
              <a:buClr>
                <a:srgbClr val="1482A5"/>
              </a:buClr>
              <a:buSzPts val="5600"/>
              <a:buFont typeface="Arial"/>
              <a:buNone/>
            </a:pPr>
            <a:r>
              <a:rPr lang="en-US" sz="4600">
                <a:solidFill>
                  <a:srgbClr val="1482A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Allan Tang · Yitao Hong · Kenneth Lee</a:t>
            </a:r>
            <a:endParaRPr sz="4600">
              <a:solidFill>
                <a:srgbClr val="1482A5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spcBef>
                <a:spcPts val="1120"/>
              </a:spcBef>
              <a:spcAft>
                <a:spcPts val="0"/>
              </a:spcAft>
              <a:buClr>
                <a:srgbClr val="1482A5"/>
              </a:buClr>
              <a:buSzPts val="5600"/>
              <a:buFont typeface="Arial"/>
              <a:buNone/>
            </a:pPr>
            <a:r>
              <a:rPr lang="en-US" sz="4600">
                <a:solidFill>
                  <a:srgbClr val="1482A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Master of Science in Artificial Intelligence </a:t>
            </a:r>
            <a:endParaRPr sz="4600">
              <a:solidFill>
                <a:srgbClr val="1482A5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spcBef>
                <a:spcPts val="1120"/>
              </a:spcBef>
              <a:spcAft>
                <a:spcPts val="0"/>
              </a:spcAft>
              <a:buClr>
                <a:srgbClr val="1482A5"/>
              </a:buClr>
              <a:buSzPts val="5600"/>
              <a:buFont typeface="Arial"/>
              <a:buNone/>
            </a:pPr>
            <a:r>
              <a:rPr lang="en-US" sz="4600">
                <a:solidFill>
                  <a:srgbClr val="1482A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Northwestern University</a:t>
            </a:r>
            <a:endParaRPr sz="400"/>
          </a:p>
        </p:txBody>
      </p:sp>
      <p:sp>
        <p:nvSpPr>
          <p:cNvPr id="95" name="Google Shape;95;p1"/>
          <p:cNvSpPr/>
          <p:nvPr/>
        </p:nvSpPr>
        <p:spPr>
          <a:xfrm>
            <a:off x="685800" y="6159050"/>
            <a:ext cx="14480100" cy="1015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839238" y="6159038"/>
            <a:ext cx="13458600" cy="1566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9971200" y="6159050"/>
            <a:ext cx="13234200" cy="1861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685800" y="17013250"/>
            <a:ext cx="14480100" cy="7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5839238" y="22436700"/>
            <a:ext cx="13458600" cy="983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85800" y="24771525"/>
            <a:ext cx="14480100" cy="750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29971200" y="25256425"/>
            <a:ext cx="13234200" cy="34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14400" y="7916850"/>
            <a:ext cx="8709000" cy="7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must manually plan courses across multiple quarters.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Satisfy prerequisite chains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 degree requirements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time conflicts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Courses offered only certain quarters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workload and preferences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tools (degree audits, advising) do not generate optimized schedules. Students must manually test many combinations.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3349650" y="6698231"/>
            <a:ext cx="96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Problems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29971200" y="29068900"/>
            <a:ext cx="13234200" cy="31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31787700" y="29316484"/>
            <a:ext cx="96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Acknowledgements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33344100" y="25471150"/>
            <a:ext cx="648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3349650" y="17255275"/>
            <a:ext cx="96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it matters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7721463" y="6698213"/>
            <a:ext cx="96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Representation</a:t>
            </a:r>
            <a:endParaRPr/>
          </a:p>
        </p:txBody>
      </p:sp>
      <p:pic>
        <p:nvPicPr>
          <p:cNvPr id="109" name="Google Shape;109;p1" title="Vertical_purple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25" y="1224641"/>
            <a:ext cx="5181599" cy="16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/>
        </p:nvSpPr>
        <p:spPr>
          <a:xfrm>
            <a:off x="1134600" y="18114325"/>
            <a:ext cx="14031300" cy="7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want schedules that satisfy constraints and match their goals.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of automated planning: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prerequisites are satisfied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Guarantee degree requirements are met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scheduling conflicts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 student preferences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fewer days on campus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shorter campus time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instructor ratings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</a:t>
            </a: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11" name="Google Shape;111;p1" title="Screenshot 2026-03-08 at 9.02.2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3050" y="8077800"/>
            <a:ext cx="5267220" cy="75034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3349650" y="25469006"/>
            <a:ext cx="96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Work Guide</a:t>
            </a:r>
            <a:endParaRPr sz="3600">
              <a:solidFill>
                <a:srgbClr val="23507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13" name="Google Shape;113;p1" title="Screenshot 2026-03-08 at 9.14.4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4225" y="26744163"/>
            <a:ext cx="12843249" cy="494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/>
        </p:nvSpPr>
        <p:spPr>
          <a:xfrm>
            <a:off x="16146888" y="8023838"/>
            <a:ext cx="12843300" cy="7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Here we utilize </a:t>
            </a:r>
            <a:r>
              <a:rPr b="1"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tabular data</a:t>
            </a:r>
            <a:r>
              <a:rPr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that is structured across 4 relational tables that encode a Constraint Satisfaction Problem. Each table encodes different types of knowledge, namely the following: </a:t>
            </a:r>
            <a:endParaRPr sz="3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200"/>
              <a:buFont typeface="Calibri"/>
              <a:buChar char="●"/>
            </a:pPr>
            <a:r>
              <a:rPr b="1"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Temporal: </a:t>
            </a:r>
            <a:r>
              <a:rPr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Course scheduling offerings, with features such as course prerequisites, times offered, dates offered, and course locations. </a:t>
            </a:r>
            <a:endParaRPr sz="3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200"/>
              <a:buFont typeface="Calibri"/>
              <a:buChar char="●"/>
            </a:pPr>
            <a:r>
              <a:rPr b="1"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Curricular: </a:t>
            </a:r>
            <a:r>
              <a:rPr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Minimum degree requirements for graduation.</a:t>
            </a:r>
            <a:endParaRPr sz="3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200"/>
              <a:buFont typeface="Calibri"/>
              <a:buChar char="●"/>
            </a:pPr>
            <a:r>
              <a:rPr b="1"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Evaluative: </a:t>
            </a:r>
            <a:r>
              <a:rPr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CTEC evaluations for instructors on specific courses.</a:t>
            </a:r>
            <a:endParaRPr sz="3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200"/>
              <a:buFont typeface="Calibri"/>
              <a:buChar char="●"/>
            </a:pPr>
            <a:r>
              <a:rPr b="1"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Biographical: </a:t>
            </a:r>
            <a:r>
              <a:rPr lang="en-US" sz="3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Student profiles, with status (full-time versus part-time), declared major, courses completed to date, and courses currently registered for in the following quarter.</a:t>
            </a:r>
            <a:endParaRPr sz="3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15" name="Google Shape;115;p1" title="Screenshot 2026-03-08 at 11.29.0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40638" y="14539163"/>
            <a:ext cx="546735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 title="Screenshot 2026-03-08 at 11.29.24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40638" y="18146650"/>
            <a:ext cx="5467350" cy="23050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17" name="Google Shape;117;p1" title="Screenshot 2026-03-08 at 11.29.58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843838" y="18146663"/>
            <a:ext cx="5800750" cy="203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18" name="Google Shape;118;p1" title="Screenshot 2026-03-08 at 11.30.50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053938" y="14539150"/>
            <a:ext cx="5143500" cy="23050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9" name="Google Shape;119;p1"/>
          <p:cNvSpPr txBox="1"/>
          <p:nvPr/>
        </p:nvSpPr>
        <p:spPr>
          <a:xfrm>
            <a:off x="17099763" y="16981300"/>
            <a:ext cx="43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17099763" y="20693663"/>
            <a:ext cx="43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Curricular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23451138" y="16981300"/>
            <a:ext cx="43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Evaluative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23569675" y="20693663"/>
            <a:ext cx="43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Biographical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19324350" y="22866000"/>
            <a:ext cx="648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Reasoning</a:t>
            </a:r>
            <a:endParaRPr/>
          </a:p>
        </p:txBody>
      </p:sp>
      <p:pic>
        <p:nvPicPr>
          <p:cNvPr id="124" name="Google Shape;124;p1" title="ChatGPT Image Mar 9, 2026, 12_47_53 A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412500" y="6244225"/>
            <a:ext cx="12351590" cy="18527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 txBox="1"/>
          <p:nvPr/>
        </p:nvSpPr>
        <p:spPr>
          <a:xfrm>
            <a:off x="31787700" y="6698225"/>
            <a:ext cx="96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3507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Building a road map</a:t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30253800" y="26336400"/>
            <a:ext cx="126690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 constraint reasoning allows reliable course planning beyond what LLMs can guarantee. The system combines graph reasoning, constraint checking, and preference optimization to generate valid and explainable academic roadmaps.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30253800" y="29939975"/>
            <a:ext cx="126690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We would like to thank Professor Mohammed A. Alam for his guidance and feedback throughout this project. This work was completed as part of MSAI 371 at Northwestern University.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" title="ChatGPT Image Mar 9, 2026, 02_00_49 A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234038" y="23512500"/>
            <a:ext cx="12669001" cy="844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Graphicsland/MakeSigns.com</dc:creator>
</cp:coreProperties>
</file>